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-365760"/>
            <a:ext cx="1920240" cy="1920240"/>
          </a:xfrm>
          <a:prstGeom prst="ellipse">
            <a:avLst/>
          </a:prstGeom>
          <a:solidFill>
            <a:srgbClr val="36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5303520"/>
            <a:ext cx="1645920" cy="1645920"/>
          </a:xfrm>
          <a:prstGeom prst="ellipse">
            <a:avLst/>
          </a:prstGeom>
          <a:solidFill>
            <a:srgbClr val="2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577840"/>
            <a:ext cx="1463040" cy="1463040"/>
          </a:xfrm>
          <a:prstGeom prst="ellipse">
            <a:avLst/>
          </a:prstGeom>
          <a:solidFill>
            <a:srgbClr val="36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502920"/>
            <a:ext cx="1508760" cy="384048"/>
          </a:xfrm>
          <a:prstGeom prst="roundRect">
            <a:avLst/>
          </a:prstGeom>
          <a:solidFill>
            <a:srgbClr val="26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FB5C9"/>
                </a:solidFill>
                <a:latin typeface="Aptos"/>
              </a:rPr>
              <a:t>TASK 2  •  AI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AFCFF"/>
                </a:solidFill>
                <a:latin typeface="Aptos"/>
              </a:rPr>
              <a:t>AI-Powered Education for Social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ECAE1"/>
                </a:solidFill>
                <a:latin typeface="Aptos"/>
              </a:rPr>
              <a:t>How artificial intelligence can help NGOs close learning gaps — without replacing teachers.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9077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B5C9"/>
                </a:solidFill>
                <a:latin typeface="Aptos"/>
              </a:rPr>
              <a:t>GLOBAL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73552"/>
            <a:ext cx="2935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B34"/>
                </a:solidFill>
                <a:latin typeface="Aptos"/>
              </a:rPr>
              <a:t>273M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22191"/>
            <a:ext cx="2935224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A3D"/>
                </a:solidFill>
                <a:latin typeface="Aptos"/>
              </a:rPr>
              <a:t>children and youth are out of school globally.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27432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077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5BBE"/>
                </a:solidFill>
                <a:latin typeface="Aptos"/>
              </a:rPr>
              <a:t>DIGITAL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73552"/>
            <a:ext cx="2935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B34"/>
                </a:solidFill>
                <a:latin typeface="Aptos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22191"/>
            <a:ext cx="2935224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A3D"/>
                </a:solidFill>
                <a:latin typeface="Aptos"/>
              </a:rPr>
              <a:t>of primary schools are connected to the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81544" y="274320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9077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B5C9"/>
                </a:solidFill>
                <a:latin typeface="Aptos"/>
              </a:rPr>
              <a:t>AI MOMENTUM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3273552"/>
            <a:ext cx="2935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B34"/>
                </a:solidFill>
                <a:latin typeface="Aptos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3822191"/>
            <a:ext cx="2935224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A3D"/>
                </a:solidFill>
                <a:latin typeface="Aptos"/>
              </a:rPr>
              <a:t>of higher-education professionals report using AI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B5C9"/>
                </a:solidFill>
                <a:latin typeface="Apto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AFCFF"/>
                </a:solidFill>
                <a:latin typeface="Aptos"/>
              </a:rPr>
              <a:t>AI can support personalized learning, translation, accessible content, teacher assistance and faster analysis of NGO education data. The biggest opportunity is not “AI instead of people” — it is “AI helping people reach more learners.”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AE1"/>
                </a:solidFill>
                <a:latin typeface="Aptos"/>
              </a:rPr>
              <a:t>Sources: UNESCO Digital Education (2026); UNESCO Education (2026).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1B34"/>
                </a:solidFill>
                <a:latin typeface="Aptos"/>
              </a:rPr>
              <a:t>From Data → Insight →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D"/>
                </a:solidFill>
                <a:latin typeface="Aptos"/>
              </a:rPr>
              <a:t>A practical AI model for education-focused NGOs and volunteer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29000" cy="1965960"/>
          </a:xfrm>
          <a:prstGeom prst="roundRect">
            <a:avLst/>
          </a:prstGeom>
          <a:solidFill>
            <a:srgbClr val="F6F9FD"/>
          </a:solidFill>
          <a:ln>
            <a:solidFill>
              <a:srgbClr val="DC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65BBE"/>
                </a:solidFill>
                <a:latin typeface="Aptos"/>
              </a:rPr>
              <a:t>01  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48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B34"/>
                </a:solidFill>
                <a:latin typeface="Aptos"/>
              </a:rPr>
              <a:t>Attendance • learner feedback • test scores • volunteer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803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A3D"/>
                </a:solidFill>
                <a:latin typeface="Aptos"/>
              </a:rPr>
              <a:t>Use spreadsheets, forms and simple databases.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965960"/>
          </a:xfrm>
          <a:prstGeom prst="roundRect">
            <a:avLst/>
          </a:prstGeom>
          <a:solidFill>
            <a:srgbClr val="F6F9FD"/>
          </a:solidFill>
          <a:ln>
            <a:solidFill>
              <a:srgbClr val="DC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B5C9"/>
                </a:solidFill>
                <a:latin typeface="Aptos"/>
              </a:rPr>
              <a:t>02 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48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B34"/>
                </a:solidFill>
                <a:latin typeface="Aptos"/>
              </a:rPr>
              <a:t>Find gaps • predict support needs • segment learners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8803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A3D"/>
                </a:solidFill>
                <a:latin typeface="Aptos"/>
              </a:rPr>
              <a:t>AI can summarize patterns and surface priority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429000" cy="1965960"/>
          </a:xfrm>
          <a:prstGeom prst="roundRect">
            <a:avLst/>
          </a:prstGeom>
          <a:solidFill>
            <a:srgbClr val="F6F9FD"/>
          </a:solidFill>
          <a:ln>
            <a:solidFill>
              <a:srgbClr val="DC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65BBE"/>
                </a:solidFill>
                <a:latin typeface="Aptos"/>
              </a:rPr>
              <a:t>03 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148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B34"/>
                </a:solidFill>
                <a:latin typeface="Aptos"/>
              </a:rPr>
              <a:t>Personalize materials • match volunteers • track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8803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A3D"/>
                </a:solidFill>
                <a:latin typeface="Aptos"/>
              </a:rPr>
              <a:t>Keep teachers/NGO staff in control and verify AI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22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5BBE"/>
                </a:solidFill>
                <a:latin typeface="Aptos"/>
              </a:rPr>
              <a:t>KEY INSIGHTS FROM THE RESEARCH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251960"/>
            <a:ext cx="384048" cy="384048"/>
          </a:xfrm>
          <a:prstGeom prst="ellipse">
            <a:avLst/>
          </a:prstGeom>
          <a:solidFill>
            <a:srgbClr val="36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42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1B34"/>
                </a:solidFill>
                <a:latin typeface="Aptos"/>
              </a:rPr>
              <a:t>Scale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33672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A3D"/>
                </a:solidFill>
                <a:latin typeface="Aptos"/>
              </a:rPr>
              <a:t>UNICEF reports 27.8M out-of-school children were supported through education access in 2025.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4910328"/>
            <a:ext cx="384048" cy="384048"/>
          </a:xfrm>
          <a:prstGeom prst="ellipse">
            <a:avLst/>
          </a:prstGeom>
          <a:solidFill>
            <a:srgbClr val="36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1B34"/>
                </a:solidFill>
                <a:latin typeface="Aptos"/>
              </a:rPr>
              <a:t>Access is uneven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89204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A3D"/>
                </a:solidFill>
                <a:latin typeface="Aptos"/>
              </a:rPr>
              <a:t>UNESCO reports only 40% of primary and 50% of lower-secondary schools are connected to the internet.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5568696"/>
            <a:ext cx="384048" cy="384048"/>
          </a:xfrm>
          <a:prstGeom prst="ellipse">
            <a:avLst/>
          </a:prstGeom>
          <a:solidFill>
            <a:srgbClr val="36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59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1B34"/>
                </a:solidFill>
                <a:latin typeface="Aptos"/>
              </a:rPr>
              <a:t>Human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550408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A3D"/>
                </a:solidFill>
                <a:latin typeface="Aptos"/>
              </a:rPr>
              <a:t>UNESCO emphasizes that teachers remain fundamental; AI should strengthen teaching, not replace human understanding.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6263640"/>
            <a:ext cx="10972800" cy="411480"/>
          </a:xfrm>
          <a:prstGeom prst="roundRect">
            <a:avLst/>
          </a:prstGeom>
          <a:solidFill>
            <a:srgbClr val="12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31850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TAKEAWAY  •  Use AI to find where help is needed faster — then use people to deliver that help responsibly.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693408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E788C"/>
                </a:solidFill>
                <a:latin typeface="Aptos"/>
              </a:rPr>
              <a:t>Sources: UNICEF Annual Report 2025 • UNESCO Digital Education • UNESCO, AI in the Classroom (2026 update)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